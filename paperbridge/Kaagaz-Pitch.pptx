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problem" id="{c65d8c51-2063-88c5-b359-2f382d7cb5b7}">
          <p14:sldIdLst>
            <p14:sldId id="256"/>
            <p14:sldId id="257"/>
            <p14:sldId id="258"/>
          </p14:sldIdLst>
        </p14:section>
        <p14:section name="Why it isn’t solved" id="{2d5c8e80-751e-a61b-8d12-24e86e877aef}">
          <p14:sldIdLst>
            <p14:sldId id="259"/>
            <p14:sldId id="260"/>
          </p14:sldIdLst>
        </p14:section>
        <p14:section name="How Kaagaz works" id="{15d6c80e-67d1-8833-6386-9fb08b496ba4}">
          <p14:sldIdLst>
            <p14:sldId id="261"/>
            <p14:sldId id="262"/>
            <p14:sldId id="263"/>
            <p14:sldId id="264"/>
          </p14:sldIdLst>
        </p14:section>
        <p14:section name="Real world" id="{f980d717-ff8e-a747-a76f-b02625d9888c}">
          <p14:sldIdLst>
            <p14:sldId id="265"/>
            <p14:sldId id="266"/>
          </p14:sldIdLst>
        </p14:section>
        <p14:section name="Impact" id="{0e219cd7-9dbe-0fa3-5b99-bf294c8bd955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Kaagaz means paper. We built a bridge between India’s village health workers and their doctors, made of the paper they already use. (Fill in team name and members before presenting.)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million ASHA workers write village health on paper. They may keep up to eleven registers. Every app added so far has meant more typing, not less; one worker told New Lines that entering 200 TB patients took almost two days. And the doctor sees the data weeks later; nothing goes back to the village.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side holds the information, the other holds the expertise. Between them: paper, a monthly reporting cycle, and roughly three weeks of delay. Nothing crosses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studied every tool in this space. Government apps, NGO platforms and AI tools all share one move: they add an app. Sources are in our README: the ANMOL usability study, SAMASTA coverage, Khushi Baby and CommCare documentation, Wadhwani AI, Doxper, and Ninx from the Gemini competition.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loopholes, and Kaagaz answers each one. No new typing; help comes back; standard records instead of a silo; it works on SMS and offline; and the AI shows its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photo goes up. Help comes back down, in Hindi, by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Gemini reads the handwriting and shows why someone is urgent: BP 150 over 100 and swollen feet, glowing right on the page. No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detail would change the decision, the phone asks the worker out loud. Then a doctor always checks the AI against the original handwriting before acting.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phone speaks the instruction, and the doctor’s reply appears in ink on her own page. She answers by voice, and the doctor sees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data? It works by SMS. Can’t write? She speaks. Offline? Pages queue on the phone and sync later. The app installs on the phone and opens with zero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page exports as standard FHIR R4 records shaped to India’s ABDM profiles, validated against the official HL7 schema. The doctor’s message is advice or referral, never a prescription, and every value traces back to the original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weeks, one way. Twenty-one seconds, both ways: that is the full loop from paper to doctor to voice to reply, timed live in our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a pilot at one PHC, then ABDM sandbox certification, then any paper register: anganwadi, school, ration. Fill in the pilot size and the per-page cost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paper. Same worker. Now the paper talks back. Then switch to the live demo on the Live 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agaz 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Kaagaz · कागज़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agaz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Kaagaz · कागज़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B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8A7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Bridge the Gap · Devlympics Shunya 2026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Kaagaz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that talks back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C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photo of the register a village health worker already keeps becomes live, triaged health data, and the doctor’s advice comes back to her in Hindi, by voice.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69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· [Member names]</a:t>
            </a:r>
            <a:endParaRPr lang="en-US" sz="1400" dirty="0"/>
          </a:p>
        </p:txBody>
      </p:sp>
      <p:pic>
        <p:nvPicPr>
          <p:cNvPr id="7" name="screenshot" descr="Photo of a handwritten ASHA register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80000">
            <a:off x="7589520" y="937260"/>
            <a:ext cx="3840480" cy="4800600"/>
          </a:xfrm>
          <a:prstGeom prst="rect">
            <a:avLst/>
          </a:prstGeom>
          <a:effectLst>
            <a:outerShdw sx="100000" sy="100000" kx="0" ky="0" algn="bl" rotWithShape="0" blurRad="101600" dist="63500" dir="2700000">
              <a:srgbClr val="1B1A2E">
                <a:alpha val="10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B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The gap</a:t>
            </a:r>
            <a:endParaRPr lang="en-US" sz="18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Village health lives on paper</a:t>
            </a:r>
            <a:endParaRPr lang="en-US" sz="3600" dirty="0"/>
          </a:p>
        </p:txBody>
      </p:sp>
      <p:sp>
        <p:nvSpPr>
          <p:cNvPr id="4" name="stat-0"/>
          <p:cNvSpPr/>
          <p:nvPr/>
        </p:nvSpPr>
        <p:spPr>
          <a:xfrm>
            <a:off x="548640" y="196596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1M+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workers record rural India’s health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Health Mission</a:t>
            </a:r>
            <a:endParaRPr lang="en-US" sz="1200" dirty="0"/>
          </a:p>
        </p:txBody>
      </p:sp>
      <p:sp>
        <p:nvSpPr>
          <p:cNvPr id="8" name="stat-1"/>
          <p:cNvSpPr/>
          <p:nvPr/>
        </p:nvSpPr>
        <p:spPr>
          <a:xfrm>
            <a:off x="4297680" y="196596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2240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one ASHA may keep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KhushiHealth · MIT Solve</a:t>
            </a:r>
            <a:endParaRPr lang="en-US" sz="1200" dirty="0"/>
          </a:p>
        </p:txBody>
      </p:sp>
      <p:sp>
        <p:nvSpPr>
          <p:cNvPr id="12" name="stat-2"/>
          <p:cNvSpPr/>
          <p:nvPr/>
        </p:nvSpPr>
        <p:spPr>
          <a:xfrm>
            <a:off x="8046720" y="196596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2240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days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ASHA to enter 200 TB patients into an app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Lines Magazine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Digitisation so far has added work: paper is never phased out, so workers do everything twice.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Two sides</a:t>
            </a:r>
            <a:endParaRPr lang="en-US" sz="18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should talk every day. Today, they can’t</a:t>
            </a:r>
            <a:endParaRPr lang="en-US" sz="3600" dirty="0"/>
          </a:p>
        </p:txBody>
      </p:sp>
      <p:sp>
        <p:nvSpPr>
          <p:cNvPr id="4" name="side-asha"/>
          <p:cNvSpPr/>
          <p:nvPr/>
        </p:nvSpPr>
        <p:spPr>
          <a:xfrm>
            <a:off x="548640" y="1920240"/>
            <a:ext cx="4572000" cy="3200400"/>
          </a:xfrm>
          <a:prstGeom prst="roundRect">
            <a:avLst>
              <a:gd name="adj" fmla="val 3429"/>
            </a:avLst>
          </a:prstGeom>
          <a:solidFill>
            <a:srgbClr val="FFF3CF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ASHA worker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· paper · Hindi · low signal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everything on paper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danger signs first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doctor to ask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no data connection</a:t>
            </a:r>
            <a:endParaRPr lang="en-US" sz="1700" dirty="0"/>
          </a:p>
        </p:txBody>
      </p:sp>
      <p:sp>
        <p:nvSpPr>
          <p:cNvPr id="8" name="side-doctor"/>
          <p:cNvSpPr/>
          <p:nvPr/>
        </p:nvSpPr>
        <p:spPr>
          <a:xfrm>
            <a:off x="7040880" y="1920240"/>
            <a:ext cx="457200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60920" y="2148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District doctor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· dashboards · English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32004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data weeks late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see who needs help today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outbreaks too late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reply to the village</a:t>
            </a:r>
            <a:endParaRPr lang="en-US" sz="1700" dirty="0"/>
          </a:p>
        </p:txBody>
      </p:sp>
      <p:sp>
        <p:nvSpPr>
          <p:cNvPr id="12" name="broken-bridge"/>
          <p:cNvSpPr/>
          <p:nvPr/>
        </p:nvSpPr>
        <p:spPr>
          <a:xfrm>
            <a:off x="5257800" y="3566160"/>
            <a:ext cx="164592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5166360" y="3794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weeks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What exists today</a:t>
            </a:r>
            <a:endParaRPr lang="en-US" sz="18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tool so far adds an app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566160"/>
                <a:gridCol w="4389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breaks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ANMOL · RCH portal (MoHFW)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 app for ANMs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75.6% of surveyed staff rated it very difficult to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SAMASTA (Karnataka)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ASHA diary, 485 → 134 fields (reported)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typing; earlier rollout failed on signal and training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Khushi Baby · CommCare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forms, NFC records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becomes a form filler; data flows one 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Wadhwani 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Single-task AI assistants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separate app per task; registers untouched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Doxper · Ninx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pen; Gemini reads documents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hardware, or one-way with no worker loop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groups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workers actually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reporting, privacy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Kaagaz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paper she already keeps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new typing · two-way · FHIR into ABDM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The loopholes they share</a:t>
            </a:r>
            <a:endParaRPr lang="en-US" sz="18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gaps, five answers</a:t>
            </a:r>
            <a:endParaRPr lang="en-US" sz="3600" dirty="0"/>
          </a:p>
        </p:txBody>
      </p:sp>
      <p:sp>
        <p:nvSpPr>
          <p:cNvPr id="4" name="gap-0"/>
          <p:cNvSpPr/>
          <p:nvPr/>
        </p:nvSpPr>
        <p:spPr>
          <a:xfrm>
            <a:off x="548640" y="1874520"/>
            <a:ext cx="493776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0391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typing, not less</a:t>
            </a:r>
            <a:endParaRPr lang="en-US" sz="1800" dirty="0"/>
          </a:p>
        </p:txBody>
      </p:sp>
      <p:sp>
        <p:nvSpPr>
          <p:cNvPr id="7" name="arrow-0"/>
          <p:cNvSpPr/>
          <p:nvPr/>
        </p:nvSpPr>
        <p:spPr>
          <a:xfrm>
            <a:off x="5669280" y="2057400"/>
            <a:ext cx="548640" cy="310896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answer-0"/>
          <p:cNvSpPr/>
          <p:nvPr/>
        </p:nvSpPr>
        <p:spPr>
          <a:xfrm>
            <a:off x="6400800" y="187452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29400" y="20391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is the input: zero new typing</a:t>
            </a:r>
            <a:endParaRPr lang="en-US" sz="1800" dirty="0"/>
          </a:p>
        </p:txBody>
      </p:sp>
      <p:sp>
        <p:nvSpPr>
          <p:cNvPr id="10" name="gap-1"/>
          <p:cNvSpPr/>
          <p:nvPr/>
        </p:nvSpPr>
        <p:spPr>
          <a:xfrm>
            <a:off x="548640" y="2715768"/>
            <a:ext cx="493776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880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one way</a:t>
            </a:r>
            <a:endParaRPr lang="en-US" sz="1800" dirty="0"/>
          </a:p>
        </p:txBody>
      </p:sp>
      <p:sp>
        <p:nvSpPr>
          <p:cNvPr id="13" name="arrow-1"/>
          <p:cNvSpPr/>
          <p:nvPr/>
        </p:nvSpPr>
        <p:spPr>
          <a:xfrm>
            <a:off x="5669280" y="2898648"/>
            <a:ext cx="548640" cy="310896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answer-1"/>
          <p:cNvSpPr/>
          <p:nvPr/>
        </p:nvSpPr>
        <p:spPr>
          <a:xfrm>
            <a:off x="6400800" y="2715768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629400" y="2880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comes back as a Hindi voice note</a:t>
            </a:r>
            <a:endParaRPr lang="en-US" sz="1800" dirty="0"/>
          </a:p>
        </p:txBody>
      </p:sp>
      <p:sp>
        <p:nvSpPr>
          <p:cNvPr id="16" name="gap-2"/>
          <p:cNvSpPr/>
          <p:nvPr/>
        </p:nvSpPr>
        <p:spPr>
          <a:xfrm>
            <a:off x="548640" y="3557016"/>
            <a:ext cx="493776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216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is a silo</a:t>
            </a:r>
            <a:endParaRPr lang="en-US" sz="1800" dirty="0"/>
          </a:p>
        </p:txBody>
      </p:sp>
      <p:sp>
        <p:nvSpPr>
          <p:cNvPr id="19" name="arrow-2"/>
          <p:cNvSpPr/>
          <p:nvPr/>
        </p:nvSpPr>
        <p:spPr>
          <a:xfrm>
            <a:off x="5669280" y="3739896"/>
            <a:ext cx="548640" cy="310896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answer-2"/>
          <p:cNvSpPr/>
          <p:nvPr/>
        </p:nvSpPr>
        <p:spPr>
          <a:xfrm>
            <a:off x="6400800" y="3557016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629400" y="37216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FHIR R4 records for ABDM</a:t>
            </a:r>
            <a:endParaRPr lang="en-US" sz="1800" dirty="0"/>
          </a:p>
        </p:txBody>
      </p:sp>
      <p:sp>
        <p:nvSpPr>
          <p:cNvPr id="22" name="gap-3"/>
          <p:cNvSpPr/>
          <p:nvPr/>
        </p:nvSpPr>
        <p:spPr>
          <a:xfrm>
            <a:off x="548640" y="4398264"/>
            <a:ext cx="493776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3152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56285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signal and skill</a:t>
            </a:r>
            <a:endParaRPr lang="en-US" sz="1800" dirty="0"/>
          </a:p>
        </p:txBody>
      </p:sp>
      <p:sp>
        <p:nvSpPr>
          <p:cNvPr id="25" name="arrow-3"/>
          <p:cNvSpPr/>
          <p:nvPr/>
        </p:nvSpPr>
        <p:spPr>
          <a:xfrm>
            <a:off x="5669280" y="4581144"/>
            <a:ext cx="548640" cy="310896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answer-3"/>
          <p:cNvSpPr/>
          <p:nvPr/>
        </p:nvSpPr>
        <p:spPr>
          <a:xfrm>
            <a:off x="6400800" y="4398264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629400" y="45628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replies, offline queue, speak instead of write</a:t>
            </a:r>
            <a:endParaRPr lang="en-US" sz="1800" dirty="0"/>
          </a:p>
        </p:txBody>
      </p:sp>
      <p:sp>
        <p:nvSpPr>
          <p:cNvPr id="28" name="gap-4"/>
          <p:cNvSpPr/>
          <p:nvPr/>
        </p:nvSpPr>
        <p:spPr>
          <a:xfrm>
            <a:off x="548640" y="5239512"/>
            <a:ext cx="493776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3152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54041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AI</a:t>
            </a:r>
            <a:endParaRPr lang="en-US" sz="1800" dirty="0"/>
          </a:p>
        </p:txBody>
      </p:sp>
      <p:sp>
        <p:nvSpPr>
          <p:cNvPr id="31" name="arrow-4"/>
          <p:cNvSpPr/>
          <p:nvPr/>
        </p:nvSpPr>
        <p:spPr>
          <a:xfrm>
            <a:off x="5669280" y="5422392"/>
            <a:ext cx="548640" cy="310896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answer-4"/>
          <p:cNvSpPr/>
          <p:nvPr/>
        </p:nvSpPr>
        <p:spPr>
          <a:xfrm>
            <a:off x="6400800" y="5239512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629400" y="54041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glows on the handwriting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The bridge</a:t>
            </a:r>
            <a:endParaRPr lang="en-US" sz="18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paper. Lose the delay</a:t>
            </a:r>
            <a:endParaRPr lang="en-US" sz="3600" dirty="0"/>
          </a:p>
        </p:txBody>
      </p:sp>
      <p:sp>
        <p:nvSpPr>
          <p:cNvPr id="4" name="step-1"/>
          <p:cNvSpPr/>
          <p:nvPr/>
        </p:nvSpPr>
        <p:spPr>
          <a:xfrm>
            <a:off x="548640" y="2057400"/>
            <a:ext cx="2514600" cy="265176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5" name="step-num-1"/>
          <p:cNvSpPr/>
          <p:nvPr/>
        </p:nvSpPr>
        <p:spPr>
          <a:xfrm>
            <a:off x="777240" y="1828800"/>
            <a:ext cx="5486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ASHA photographs today’s register page. No typing, no forms.</a:t>
            </a:r>
            <a:endParaRPr lang="en-US" sz="1600" dirty="0"/>
          </a:p>
        </p:txBody>
      </p:sp>
      <p:sp>
        <p:nvSpPr>
          <p:cNvPr id="9" name="flow-arrow-1"/>
          <p:cNvSpPr/>
          <p:nvPr/>
        </p:nvSpPr>
        <p:spPr>
          <a:xfrm>
            <a:off x="3090672" y="3520440"/>
            <a:ext cx="274320" cy="274320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step-2"/>
          <p:cNvSpPr/>
          <p:nvPr/>
        </p:nvSpPr>
        <p:spPr>
          <a:xfrm>
            <a:off x="3383280" y="2057400"/>
            <a:ext cx="2514600" cy="265176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11" name="step-num-2"/>
          <p:cNvSpPr/>
          <p:nvPr/>
        </p:nvSpPr>
        <p:spPr>
          <a:xfrm>
            <a:off x="3611880" y="1828800"/>
            <a:ext cx="5486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18288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reads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1089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reads Hindi and English handwriting and flags danger signs.</a:t>
            </a:r>
            <a:endParaRPr lang="en-US" sz="1600" dirty="0"/>
          </a:p>
        </p:txBody>
      </p:sp>
      <p:sp>
        <p:nvSpPr>
          <p:cNvPr id="15" name="flow-arrow-2"/>
          <p:cNvSpPr/>
          <p:nvPr/>
        </p:nvSpPr>
        <p:spPr>
          <a:xfrm>
            <a:off x="5925312" y="3520440"/>
            <a:ext cx="274320" cy="274320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step-3"/>
          <p:cNvSpPr/>
          <p:nvPr/>
        </p:nvSpPr>
        <p:spPr>
          <a:xfrm>
            <a:off x="6217920" y="2057400"/>
            <a:ext cx="2514600" cy="265176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17" name="step-num-3"/>
          <p:cNvSpPr/>
          <p:nvPr/>
        </p:nvSpPr>
        <p:spPr>
          <a:xfrm>
            <a:off x="6446520" y="1828800"/>
            <a:ext cx="5486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18288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acts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1089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patients first. Advice or referral in one tap.</a:t>
            </a:r>
            <a:endParaRPr lang="en-US" sz="1600" dirty="0"/>
          </a:p>
        </p:txBody>
      </p:sp>
      <p:sp>
        <p:nvSpPr>
          <p:cNvPr id="21" name="flow-arrow-3"/>
          <p:cNvSpPr/>
          <p:nvPr/>
        </p:nvSpPr>
        <p:spPr>
          <a:xfrm>
            <a:off x="8759952" y="3520440"/>
            <a:ext cx="274320" cy="274320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step-4"/>
          <p:cNvSpPr/>
          <p:nvPr/>
        </p:nvSpPr>
        <p:spPr>
          <a:xfrm>
            <a:off x="9052560" y="20574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E1EFD9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23" name="step-num-4"/>
          <p:cNvSpPr/>
          <p:nvPr/>
        </p:nvSpPr>
        <p:spPr>
          <a:xfrm>
            <a:off x="9281160" y="1828800"/>
            <a:ext cx="5486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81160" y="18288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back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31089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Hindi voice note on her phone. She replies by speaking.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as a photo, back down as a voice: the bridge works both ways.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Step 1 · Paper to AI</a:t>
            </a:r>
            <a:endParaRPr lang="en-US" sz="18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shows why a patient is urgent</a:t>
            </a:r>
            <a:endParaRPr lang="en-US" sz="3600" dirty="0"/>
          </a:p>
        </p:txBody>
      </p:sp>
      <p:pic>
        <p:nvPicPr>
          <p:cNvPr id="4" name="screenshot" descr="Register photo with danger words highlighted in 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7610" y="1783080"/>
            <a:ext cx="3487100" cy="4343400"/>
          </a:xfrm>
          <a:prstGeom prst="rect">
            <a:avLst/>
          </a:prstGeom>
          <a:effectLst>
            <a:outerShdw sx="100000" sy="100000" kx="0" ky="0" algn="bl" rotWithShape="0" blurRad="101600" dist="63500" dir="2700000">
              <a:srgbClr val="1B1A2E">
                <a:alpha val="100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48640" y="1920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every row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774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English and Hinglish handwriting, with a confidence score per row.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91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 the evidence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490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“BP 150/100” and “pair me sujan” (swollen feet) glow red: possible pre-eclampsia.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663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 what it isn’t sure of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1206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rows go to a human, shown beside the original handwriting.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Steps 2 and 3</a:t>
            </a:r>
            <a:endParaRPr lang="en-US" sz="18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asks, a human checks</a:t>
            </a:r>
            <a:endParaRPr lang="en-US" sz="3600" dirty="0"/>
          </a:p>
        </p:txBody>
      </p:sp>
      <p:pic>
        <p:nvPicPr>
          <p:cNvPr id="4" name="screenshot" descr="Phone asking a follow-up question in Hind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084" y="1828800"/>
            <a:ext cx="4779752" cy="3017520"/>
          </a:xfrm>
          <a:prstGeom prst="rect">
            <a:avLst/>
          </a:prstGeom>
          <a:effectLst>
            <a:outerShdw sx="100000" sy="100000" kx="0" ky="0" algn="bl" rotWithShape="0" blurRad="101600" dist="63500" dir="2700000">
              <a:srgbClr val="1B1A2E">
                <a:alpha val="100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48640" y="50292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missing? The phone asks the ASHA out loud in Hindi. She says “हाँ” and Ramesh becomes urgent on the doctor’s screen.</a:t>
            </a:r>
            <a:endParaRPr lang="en-US" sz="1600" dirty="0"/>
          </a:p>
        </p:txBody>
      </p:sp>
      <p:pic>
        <p:nvPicPr>
          <p:cNvPr id="6" name="screenshot" descr="Doctor comparing the AI reading with the handwrit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83817"/>
            <a:ext cx="2926080" cy="4341925"/>
          </a:xfrm>
          <a:prstGeom prst="rect">
            <a:avLst/>
          </a:prstGeom>
          <a:effectLst>
            <a:outerShdw sx="100000" sy="100000" kx="0" ky="0" algn="bl" rotWithShape="0" blurRad="101600" dist="63500" dir="2700000">
              <a:srgbClr val="1B1A2E">
                <a:alpha val="100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9555480" y="210312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sees the AI’s reading next to the real handwriting, corrects it, then sends advice.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555480" y="4572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suggests. The doctor decides.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Step 4 · Back to the village</a:t>
            </a:r>
            <a:endParaRPr lang="en-US" sz="18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 talks back</a:t>
            </a:r>
            <a:endParaRPr lang="en-US" sz="3600" dirty="0"/>
          </a:p>
        </p:txBody>
      </p:sp>
      <p:pic>
        <p:nvPicPr>
          <p:cNvPr id="4" name="screenshot" descr="Doctor’s reply handwritten in the margin of the register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890" y="1783080"/>
            <a:ext cx="3487100" cy="4343400"/>
          </a:xfrm>
          <a:prstGeom prst="rect">
            <a:avLst/>
          </a:prstGeom>
          <a:effectLst>
            <a:outerShdw sx="100000" sy="100000" kx="0" ky="0" algn="bl" rotWithShape="0" blurRad="101600" dist="63500" dir="2700000">
              <a:srgbClr val="1B1A2E">
                <a:alpha val="100000"/>
              </a:srgbClr>
            </a:outerShdw>
          </a:effectLst>
        </p:spPr>
      </p:pic>
      <p:pic>
        <p:nvPicPr>
          <p:cNvPr id="5" name="screenshot" descr="Hindi voice note on the ASHA’s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25465"/>
            <a:ext cx="3657600" cy="2184110"/>
          </a:xfrm>
          <a:prstGeom prst="rect">
            <a:avLst/>
          </a:prstGeom>
          <a:effectLst>
            <a:outerShdw sx="100000" sy="100000" kx="0" ky="0" algn="bl" rotWithShape="0" blurRad="101600" dist="63500" dir="2700000">
              <a:srgbClr val="1B1A2E">
                <a:alpha val="100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4572000" y="43891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“सुनीता जी को आज ही PHC ले जाएँ।”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as a Hindi voice note, and the doctor’s reply is written in ink into the margin of her own page.</a:t>
            </a:r>
            <a:endParaRPr lang="en-US" sz="1600" dirty="0"/>
          </a:p>
        </p:txBody>
      </p:sp>
      <p:sp>
        <p:nvSpPr>
          <p:cNvPr id="7" name="reply-card"/>
          <p:cNvSpPr/>
          <p:nvPr/>
        </p:nvSpPr>
        <p:spPr>
          <a:xfrm>
            <a:off x="8595360" y="1920240"/>
            <a:ext cx="3017520" cy="2926080"/>
          </a:xfrm>
          <a:prstGeom prst="roundRect">
            <a:avLst>
              <a:gd name="adj" fmla="val 3750"/>
            </a:avLst>
          </a:prstGeom>
          <a:solidFill>
            <a:srgbClr val="E1EFD9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82396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replies by voice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82396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“हाँ, अभी जा रही हूँ”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823960" y="3383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sees: Sent → Heard → Replied. The loop is closed.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Built for real villages</a:t>
            </a:r>
            <a:endParaRPr lang="en-US" sz="18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where the network doesn’t</a:t>
            </a:r>
            <a:endParaRPr lang="en-US" sz="3600" dirty="0"/>
          </a:p>
        </p:txBody>
      </p:sp>
      <p:sp>
        <p:nvSpPr>
          <p:cNvPr id="4" name="feat-0"/>
          <p:cNvSpPr/>
          <p:nvPr/>
        </p:nvSpPr>
        <p:spPr>
          <a:xfrm>
            <a:off x="548640" y="1828800"/>
            <a:ext cx="2560320" cy="33832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pic>
        <p:nvPicPr>
          <p:cNvPr id="5" name="screenshot" descr="SMS-only ph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87967"/>
            <a:ext cx="2194560" cy="1310466"/>
          </a:xfrm>
          <a:prstGeom prst="rect">
            <a:avLst/>
          </a:prstGeom>
          <a:effectLst>
            <a:outerShdw sx="100000" sy="100000" kx="0" ky="0" algn="bl" rotWithShape="0" blurRad="101600" dist="63500" dir="2700000">
              <a:srgbClr val="1B1A2E">
                <a:alpha val="100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73152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SMS-only phones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06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arrives as an SMS; reply with one key: 1, 2 or 3.</a:t>
            </a:r>
            <a:endParaRPr lang="en-US" sz="1500" dirty="0"/>
          </a:p>
        </p:txBody>
      </p:sp>
      <p:sp>
        <p:nvSpPr>
          <p:cNvPr id="8" name="feat-1"/>
          <p:cNvSpPr/>
          <p:nvPr/>
        </p:nvSpPr>
        <p:spPr>
          <a:xfrm>
            <a:off x="3383280" y="1828800"/>
            <a:ext cx="2560320" cy="33832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pic>
        <p:nvPicPr>
          <p:cNvPr id="9" name="screenshot" descr="Speak, don’t wri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111433"/>
            <a:ext cx="2194560" cy="1263535"/>
          </a:xfrm>
          <a:prstGeom prst="rect">
            <a:avLst/>
          </a:prstGeom>
          <a:effectLst>
            <a:outerShdw sx="100000" sy="100000" kx="0" ky="0" algn="bl" rotWithShape="0" blurRad="101600" dist="63500" dir="2700000">
              <a:srgbClr val="1B1A2E">
                <a:alpha val="100000"/>
              </a:srgbClr>
            </a:outerShdw>
          </a:effectLst>
        </p:spPr>
      </p:pic>
      <p:sp>
        <p:nvSpPr>
          <p:cNvPr id="10" name="Text 6"/>
          <p:cNvSpPr txBox="1"/>
          <p:nvPr/>
        </p:nvSpPr>
        <p:spPr>
          <a:xfrm>
            <a:off x="356616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Speak, don’t write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566160" y="4206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visit in Hindi; it becomes a triaged record.</a:t>
            </a:r>
            <a:endParaRPr lang="en-US" sz="1500" dirty="0"/>
          </a:p>
        </p:txBody>
      </p:sp>
      <p:sp>
        <p:nvSpPr>
          <p:cNvPr id="12" name="feat-2"/>
          <p:cNvSpPr/>
          <p:nvPr/>
        </p:nvSpPr>
        <p:spPr>
          <a:xfrm>
            <a:off x="6217920" y="1828800"/>
            <a:ext cx="2560320" cy="33832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pic>
        <p:nvPicPr>
          <p:cNvPr id="13" name="screenshot" descr="QR page stam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16381"/>
            <a:ext cx="2194560" cy="1053638"/>
          </a:xfrm>
          <a:prstGeom prst="rect">
            <a:avLst/>
          </a:prstGeom>
          <a:effectLst>
            <a:outerShdw sx="100000" sy="100000" kx="0" ky="0" algn="bl" rotWithShape="0" blurRad="101600" dist="63500" dir="2700000">
              <a:srgbClr val="1B1A2E">
                <a:alpha val="100000"/>
              </a:srgbClr>
            </a:outerShdw>
          </a:effectLst>
        </p:spPr>
      </p:pic>
      <p:sp>
        <p:nvSpPr>
          <p:cNvPr id="14" name="Text 9"/>
          <p:cNvSpPr txBox="1"/>
          <p:nvPr/>
        </p:nvSpPr>
        <p:spPr>
          <a:xfrm>
            <a:off x="640080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page stamp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0" y="4206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sticker on the paper opens its digital record.</a:t>
            </a:r>
            <a:endParaRPr lang="en-US" sz="1500" dirty="0"/>
          </a:p>
        </p:txBody>
      </p:sp>
      <p:sp>
        <p:nvSpPr>
          <p:cNvPr id="16" name="feat-3"/>
          <p:cNvSpPr/>
          <p:nvPr/>
        </p:nvSpPr>
        <p:spPr>
          <a:xfrm>
            <a:off x="9052560" y="1828800"/>
            <a:ext cx="2560320" cy="33832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pic>
        <p:nvPicPr>
          <p:cNvPr id="17" name="screenshot" descr="Outbreak alar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15500"/>
            <a:ext cx="2194560" cy="1055399"/>
          </a:xfrm>
          <a:prstGeom prst="rect">
            <a:avLst/>
          </a:prstGeom>
          <a:effectLst>
            <a:outerShdw sx="100000" sy="100000" kx="0" ky="0" algn="bl" rotWithShape="0" blurRad="101600" dist="63500" dir="2700000">
              <a:srgbClr val="1B1A2E">
                <a:alpha val="100000"/>
              </a:srgbClr>
            </a:outerShdw>
          </a:effectLst>
        </p:spPr>
      </p:pic>
      <p:sp>
        <p:nvSpPr>
          <p:cNvPr id="18" name="Text 12"/>
          <p:cNvSpPr txBox="1"/>
          <p:nvPr/>
        </p:nvSpPr>
        <p:spPr>
          <a:xfrm>
            <a:off x="923544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Outbreak alarm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9235440" y="4206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fever cases in one village raise an alarm early.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Standards and safety</a:t>
            </a:r>
            <a:endParaRPr lang="en-US" sz="18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Feeds the national system, not another silo</a:t>
            </a:r>
            <a:endParaRPr lang="en-US" sz="3600" dirty="0"/>
          </a:p>
        </p:txBody>
      </p:sp>
      <p:sp>
        <p:nvSpPr>
          <p:cNvPr id="4" name="fhir-card"/>
          <p:cNvSpPr/>
          <p:nvPr/>
        </p:nvSpPr>
        <p:spPr>
          <a:xfrm>
            <a:off x="548640" y="1828800"/>
            <a:ext cx="548640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HL7 FHIR R4, shaped to ABDM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per patient, built on NRCeS profiles:</a:t>
            </a:r>
            <a:endParaRPr lang="en-US" sz="1500" dirty="0"/>
          </a:p>
        </p:txBody>
      </p:sp>
      <p:sp>
        <p:nvSpPr>
          <p:cNvPr id="7" name="res-0"/>
          <p:cNvSpPr/>
          <p:nvPr/>
        </p:nvSpPr>
        <p:spPr>
          <a:xfrm>
            <a:off x="822960" y="30632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FF3C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63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400" dirty="0"/>
          </a:p>
        </p:txBody>
      </p:sp>
      <p:sp>
        <p:nvSpPr>
          <p:cNvPr id="9" name="res-1"/>
          <p:cNvSpPr/>
          <p:nvPr/>
        </p:nvSpPr>
        <p:spPr>
          <a:xfrm>
            <a:off x="3337560" y="30632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FF3C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3063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</a:t>
            </a:r>
            <a:endParaRPr lang="en-US" sz="1400" dirty="0"/>
          </a:p>
        </p:txBody>
      </p:sp>
      <p:sp>
        <p:nvSpPr>
          <p:cNvPr id="11" name="res-2"/>
          <p:cNvSpPr/>
          <p:nvPr/>
        </p:nvSpPr>
        <p:spPr>
          <a:xfrm>
            <a:off x="822960" y="356616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FF3C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(LOINC)</a:t>
            </a:r>
            <a:endParaRPr lang="en-US" sz="1400" dirty="0"/>
          </a:p>
        </p:txBody>
      </p:sp>
      <p:sp>
        <p:nvSpPr>
          <p:cNvPr id="13" name="res-3"/>
          <p:cNvSpPr/>
          <p:nvPr/>
        </p:nvSpPr>
        <p:spPr>
          <a:xfrm>
            <a:off x="3337560" y="356616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FF3C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37560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RiskAssessment</a:t>
            </a:r>
            <a:endParaRPr lang="en-US" sz="1400" dirty="0"/>
          </a:p>
        </p:txBody>
      </p:sp>
      <p:sp>
        <p:nvSpPr>
          <p:cNvPr id="15" name="res-4"/>
          <p:cNvSpPr/>
          <p:nvPr/>
        </p:nvSpPr>
        <p:spPr>
          <a:xfrm>
            <a:off x="822960" y="406908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FF3C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690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400" dirty="0"/>
          </a:p>
        </p:txBody>
      </p:sp>
      <p:sp>
        <p:nvSpPr>
          <p:cNvPr id="17" name="res-5"/>
          <p:cNvSpPr/>
          <p:nvPr/>
        </p:nvSpPr>
        <p:spPr>
          <a:xfrm>
            <a:off x="3337560" y="406908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FF3C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37560" y="40690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DocumentReference</a:t>
            </a:r>
            <a:endParaRPr lang="en-US" sz="1400" dirty="0"/>
          </a:p>
        </p:txBody>
      </p:sp>
      <p:sp>
        <p:nvSpPr>
          <p:cNvPr id="19" name="res-6"/>
          <p:cNvSpPr/>
          <p:nvPr/>
        </p:nvSpPr>
        <p:spPr>
          <a:xfrm>
            <a:off x="822960" y="45720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FF3C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5720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166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the official HL7 FHIR R4 schema. Not yet certified in the ABDM sandbox.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18745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suggests, the doctor decides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2860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stays preliminary until a doctor confirms it.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2926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Advice, never a prescription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3375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remote doctor who hasn’t examined the patient gives advice or referral only.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39776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traces to paper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43891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Provenance: ASHA wrote it, AI read it, doctor verified it.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5029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on the projector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5440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hides every patient name.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8A7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The one number</a:t>
            </a:r>
            <a:endParaRPr lang="en-US" sz="2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→ doctor → voice → reply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strike="sngStrike" dirty="0">
                <a:solidFill>
                  <a:srgbClr val="F28B8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~3 weeks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C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one way</a:t>
            </a:r>
            <a:endParaRPr lang="en-US" sz="1800" dirty="0"/>
          </a:p>
        </p:txBody>
      </p:sp>
      <p:sp>
        <p:nvSpPr>
          <p:cNvPr id="6" name="number-arrow"/>
          <p:cNvSpPr/>
          <p:nvPr/>
        </p:nvSpPr>
        <p:spPr>
          <a:xfrm>
            <a:off x="5669280" y="2880360"/>
            <a:ext cx="822960" cy="4572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21031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0:21</a:t>
            </a:r>
            <a:endParaRPr lang="en-US" sz="120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C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Kaagaz · both ways · measured in our live demo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weeks to seconds, and for the first time, the village hears back.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B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What’s next</a:t>
            </a:r>
            <a:endParaRPr lang="en-US" sz="18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PHC to any paper register</a:t>
            </a:r>
            <a:endParaRPr lang="en-US" sz="3600" dirty="0"/>
          </a:p>
        </p:txBody>
      </p:sp>
      <p:sp>
        <p:nvSpPr>
          <p:cNvPr id="4" name="next-0"/>
          <p:cNvSpPr/>
          <p:nvPr/>
        </p:nvSpPr>
        <p:spPr>
          <a:xfrm>
            <a:off x="548640" y="1828800"/>
            <a:ext cx="3474720" cy="2651760"/>
          </a:xfrm>
          <a:prstGeom prst="roundRect">
            <a:avLst>
              <a:gd name="adj" fmla="val 4138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PHC · __ ASHAs · __ months]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read accuracy on real pages, time to doctor, replies closed.</a:t>
            </a:r>
            <a:endParaRPr lang="en-US" sz="1600" dirty="0"/>
          </a:p>
        </p:txBody>
      </p:sp>
      <p:sp>
        <p:nvSpPr>
          <p:cNvPr id="8" name="next-1"/>
          <p:cNvSpPr/>
          <p:nvPr/>
        </p:nvSpPr>
        <p:spPr>
          <a:xfrm>
            <a:off x="4297680" y="1828800"/>
            <a:ext cx="347472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2057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51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sandbox certification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4290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FHIR records into state HMIS / ABHA-linked records.</a:t>
            </a:r>
            <a:endParaRPr lang="en-US" sz="1600" dirty="0"/>
          </a:p>
        </p:txBody>
      </p:sp>
      <p:sp>
        <p:nvSpPr>
          <p:cNvPr id="12" name="next-2"/>
          <p:cNvSpPr/>
          <p:nvPr/>
        </p:nvSpPr>
        <p:spPr>
          <a:xfrm>
            <a:off x="8046720" y="1828800"/>
            <a:ext cx="347472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2057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651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paper register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4290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Anganwadi, school attendance, ration shops: same bridge, new form.</a:t>
            </a:r>
            <a:endParaRPr lang="en-US" sz="1600" dirty="0"/>
          </a:p>
        </p:txBody>
      </p:sp>
      <p:sp>
        <p:nvSpPr>
          <p:cNvPr id="16" name="cost-card"/>
          <p:cNvSpPr/>
          <p:nvPr/>
        </p:nvSpPr>
        <p:spPr>
          <a:xfrm>
            <a:off x="548640" y="480060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A2E">
                <a:alpha val="10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965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hardware, no new habits.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phones ASHAs already carry. Cost per page: [₹__ on Gemini Flash].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8A70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Kaagaz · कागज़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paper. Same worker.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the paper talks back</a:t>
            </a:r>
            <a:endParaRPr lang="en-US" sz="5400" dirty="0"/>
          </a:p>
        </p:txBody>
      </p:sp>
      <p:sp>
        <p:nvSpPr>
          <p:cNvPr id="5" name="chip-0"/>
          <p:cNvSpPr/>
          <p:nvPr/>
        </p:nvSpPr>
        <p:spPr>
          <a:xfrm>
            <a:off x="548640" y="4206240"/>
            <a:ext cx="2692908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206240"/>
            <a:ext cx="26929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Vision</a:t>
            </a:r>
            <a:endParaRPr lang="en-US" sz="1400" dirty="0"/>
          </a:p>
        </p:txBody>
      </p:sp>
      <p:sp>
        <p:nvSpPr>
          <p:cNvPr id="7" name="chip-1"/>
          <p:cNvSpPr/>
          <p:nvPr/>
        </p:nvSpPr>
        <p:spPr>
          <a:xfrm>
            <a:off x="3424428" y="4206240"/>
            <a:ext cx="2167128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4428" y="4206240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FHIR R4 · ABDM</a:t>
            </a:r>
            <a:endParaRPr lang="en-US" sz="1400" dirty="0"/>
          </a:p>
        </p:txBody>
      </p:sp>
      <p:sp>
        <p:nvSpPr>
          <p:cNvPr id="9" name="chip-2"/>
          <p:cNvSpPr/>
          <p:nvPr/>
        </p:nvSpPr>
        <p:spPr>
          <a:xfrm>
            <a:off x="5774436" y="4206240"/>
            <a:ext cx="2167128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74436" y="4206240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· Hindi</a:t>
            </a:r>
            <a:endParaRPr lang="en-US" sz="1400" dirty="0"/>
          </a:p>
        </p:txBody>
      </p:sp>
      <p:sp>
        <p:nvSpPr>
          <p:cNvPr id="11" name="chip-3"/>
          <p:cNvSpPr/>
          <p:nvPr/>
        </p:nvSpPr>
        <p:spPr>
          <a:xfrm>
            <a:off x="8124444" y="4206240"/>
            <a:ext cx="1431036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24444" y="4206240"/>
            <a:ext cx="14310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PWA</a:t>
            </a:r>
            <a:endParaRPr lang="en-US" sz="1400" dirty="0"/>
          </a:p>
        </p:txBody>
      </p:sp>
      <p:sp>
        <p:nvSpPr>
          <p:cNvPr id="13" name="chip-4"/>
          <p:cNvSpPr/>
          <p:nvPr/>
        </p:nvSpPr>
        <p:spPr>
          <a:xfrm>
            <a:off x="9738360" y="4206240"/>
            <a:ext cx="1431036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38360" y="4206240"/>
            <a:ext cx="14310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github.com/ash41106/Devlympics · [Team name]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B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agaz">
  <a:themeElements>
    <a:clrScheme name="Kaagaz">
      <a:dk1>
        <a:srgbClr val="1B1A2E"/>
      </a:dk1>
      <a:lt1>
        <a:srgbClr val="FFFAF0"/>
      </a:lt1>
      <a:dk2>
        <a:srgbClr val="12111F"/>
      </a:dk2>
      <a:lt2>
        <a:srgbClr val="F3EAD6"/>
      </a:lt2>
      <a:accent1>
        <a:srgbClr val="FFC93C"/>
      </a:accent1>
      <a:accent2>
        <a:srgbClr val="C8321E"/>
      </a:accent2>
      <a:accent3>
        <a:srgbClr val="2F7A3B"/>
      </a:accent3>
      <a:accent4>
        <a:srgbClr val="2B3A8F"/>
      </a:accent4>
      <a:accent5>
        <a:srgbClr val="C26A00"/>
      </a:accent5>
      <a:accent6>
        <a:srgbClr val="6E6650"/>
      </a:accent6>
      <a:hlink>
        <a:srgbClr val="2B3A8F"/>
      </a:hlink>
      <a:folHlink>
        <a:srgbClr val="6E6650"/>
      </a:folHlink>
    </a:clrScheme>
    <a:fontScheme name="Kaagaz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Kaagaz: Paper that talks back</dc:title>
  <dc:subject>Devlympics Shunya 2026 · Bridge the Gap</dc:subject>
  <dc:creator>Team Kaagaz</dc:creator>
  <cp:lastModifiedBy>Team Kaagaz</cp:lastModifiedBy>
  <cp:revision>1</cp:revision>
  <dcterms:created xsi:type="dcterms:W3CDTF">2026-10-17T09:51:20Z</dcterms:created>
  <dcterms:modified xsi:type="dcterms:W3CDTF">2026-10-17T09:51:20Z</dcterms:modified>
</cp:coreProperties>
</file>